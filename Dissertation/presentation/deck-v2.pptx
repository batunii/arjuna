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Dissertation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Trinity College Dublin · August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Statistics, Trinity College Dublin.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Guiding attention by
</a:t>
            </a:r>
            <a:pPr indent="0" marL="0">
              <a:buNone/>
            </a:pPr>
            <a:r>
              <a:rPr lang="en-US" sz="4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taking things away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multi-mode Diminished-Reality attention-guidance system, built and evaluated on a consumer video-see-through headset (Meta Quest 3).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892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  </a:t>
            </a:r>
            <a:pPr indent="0" marL="0">
              <a:buNone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Shreyansh Soni      </a:t>
            </a:r>
            <a:pPr indent="0" marL="0">
              <a:buNone/>
            </a:pPr>
            <a:r>
              <a:rPr lang="en-US" sz="1000" spc="200" kern="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 </a:t>
            </a:r>
            <a:pPr indent="0" marL="0">
              <a:buNone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John Dingliana      </a:t>
            </a:r>
            <a:pPr indent="0" marL="0">
              <a:buNone/>
            </a:pPr>
            <a:r>
              <a:rPr lang="en-US" sz="1000" spc="200" kern="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 </a:t>
            </a:r>
            <a:pPr indent="0" marL="0"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built · study designed &amp; piloted · main run pending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 things we already do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follows the “visual noise cancellation” reading of Diminished Reality (ACM 2024); Mori, Ikeda &amp; Saito 2017 survey diminishment as a first-class operation.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already remove distraction — for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for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Just not for sight.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453384" cy="2331720"/>
          </a:xfrm>
          <a:prstGeom prst="roundRect">
            <a:avLst>
              <a:gd name="adj" fmla="val 2353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11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carrel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31242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really needed to focus, I sat in a library carrel: wooden walls on three sides. A physical barrier that simply removes everything that isn't the book.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7784" y="1783080"/>
            <a:ext cx="3453384" cy="2331720"/>
          </a:xfrm>
          <a:prstGeom prst="roundRect">
            <a:avLst>
              <a:gd name="adj" fmla="val 2353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2376" y="1911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32376" y="216712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Noise-cancelling headphones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2376" y="2514600"/>
            <a:ext cx="31242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doesn't make the lecture louder. It makes everything else quieter. We accept — and pay for — subtraction as the way to hear better.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5488" y="1783080"/>
            <a:ext cx="3453384" cy="2331720"/>
          </a:xfrm>
          <a:prstGeom prst="roundRect">
            <a:avLst>
              <a:gd name="adj" fmla="val 2353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0080" y="1911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60080" y="216712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Arjuna and the sparrow's eye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0080" y="2514600"/>
            <a:ext cx="31242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Mahābhārata, Drona asks his students what they see before they shoot. Only Arjuna answers: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“only the eye of the bird.”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oldest description of perfect visual focus — everything else gone.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4348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the third column: </a:t>
            </a:r>
            <a:pPr indent="0" marL="0">
              <a:buNone/>
            </a:pPr>
            <a:r>
              <a:rPr lang="en-US" sz="1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pPr indent="0" marL="0">
              <a:buNone/>
            </a:pPr>
            <a:r>
              <a:rPr lang="en-US" sz="14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noise cancellation, in software, on a headset anyone can buy.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distraction has a measurable price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Frontiers in Human Neuroscience 2025 (N=66, Go/No-go, p&lt;.001) — the effect H1 is built on. Itti, Koch &amp; Niebur 1998 (involuntary capture by peripheral motion/luminance).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Peripheral distractors more than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your errors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 → 3.15</a:t>
            </a:r>
            <a:pPr indent="0" marL="0">
              <a:buNone/>
            </a:pPr>
            <a:r>
              <a:rPr lang="en-US" sz="1600" dirty="0">
                <a:solidFill>
                  <a:srgbClr val="A6B0C0"/>
                </a:solidFill>
              </a:rPr>
              <a:t>  commission errors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2025 virtual-classroom study (N = 66), adding peripheral distractors to a sustained-attention task raised error counts ~2.4×, p &lt; .001. Attention capture is involuntary: you don't choose to look — motion and luminance in the periphery pull the eye before you can veto it.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18745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environments are engineered against focus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open-plan offices, screens beside workspaces, advertising built to capture the gaze.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capture carries a switching cost on the task you actually wanted to do.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Willpower doesn't scale. Barriers do — that's why the carrel and the headphones exist.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4206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</a:t>
            </a:r>
            <a:pPr indent="0" marL="0">
              <a:buNone/>
            </a:pPr>
            <a:r>
              <a:rPr lang="en-US" sz="13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headset play the role of the carrel walls — for vision?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two ways to guide the eye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Biocca et al. 2006 (attention funnel); Cheng et al. CHI 2022; McLaughlin et al., Human Factors 2025; Murphy et al. 2021; Mori et al. 2017 (DR survey).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field </a:t>
            </a:r>
            <a:pPr indent="0" marL="0">
              <a:buNone/>
            </a:pPr>
            <a:r>
              <a:rPr lang="en-US" sz="2700" b="1" dirty="0">
                <a:solidFill>
                  <a:srgbClr val="62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adds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arrows. This work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subtracts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pull.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17236" cy="1737360"/>
          </a:xfrm>
          <a:prstGeom prst="roundRect">
            <a:avLst>
              <a:gd name="adj" fmla="val 3158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11096"/>
            <a:ext cx="49880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GUIDANCE (WELL STUDIED)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49880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attention TO the target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49880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Arrows, halos, attention funnels (Biocca 2006). Works, but adds clutter of its own, and does nothing about the thing that's distracting you — it just shouts louder.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1636" y="1783080"/>
            <a:ext cx="5317236" cy="1737360"/>
          </a:xfrm>
          <a:prstGeom prst="roundRect">
            <a:avLst>
              <a:gd name="adj" fmla="val 3158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6228" y="1911096"/>
            <a:ext cx="49880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SUBTRACTIVE GUIDANCE (THIS WORK)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396228" y="2167128"/>
            <a:ext cx="49880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attention FROM everything else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96228" y="2514600"/>
            <a:ext cx="49880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Dim, mute or re-grade the periphery so it stops pulling. This is Diminished Reality (DR) — like ANC, it cancels the noise instead of amplifying the signal.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794760"/>
            <a:ext cx="10908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diminishment: Cheng et al. (CHI 2022) found people ask for clutter to be hidden when focusing.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can cut workload but risks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situational-awareness loss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(McLaughlin 2025; Murphy 2021) — so the evaluation must measure both sides. That trade-off becomes hypothesis H2b.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closest prior studies ran in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simulations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Nobody had run subtractive guidance on real passthrough, on consumer hardware. That's the delta.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why this is possible now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no current VST headset reaches normal visual acuity through passthrough, and Quest 3 degrades further in low light (arXiv 2601.02805, 2026) — this shapes the architecture ahead.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video-see-through headset makes every visible pixel </a:t>
            </a:r>
            <a:pPr indent="0" marL="0">
              <a:buNone/>
            </a:pPr>
            <a:r>
              <a:rPr lang="en-US" sz="2700" b="1" dirty="0">
                <a:solidFill>
                  <a:srgbClr val="62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453384" cy="2286000"/>
          </a:xfrm>
          <a:prstGeom prst="roundRect">
            <a:avLst>
              <a:gd name="adj" fmla="val 24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5681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SEE-THROUGH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21284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subtract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560320"/>
            <a:ext cx="3124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HoloLens-style optics only ADD light to the real world. You cannot darken a lamp you see through glass. Subtractive guidance is physically impossible there.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7784" y="1828800"/>
            <a:ext cx="3453384" cy="2286000"/>
          </a:xfrm>
          <a:prstGeom prst="roundRect">
            <a:avLst>
              <a:gd name="adj" fmla="val 24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2376" y="195681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SEE-THROUGH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32376" y="221284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Can, in principle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2376" y="2560320"/>
            <a:ext cx="3124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3 shows you the world as video on an opaque screen. Every pixel you see was rendered — so in principle, every pixel can be modified.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5488" y="1828800"/>
            <a:ext cx="3453384" cy="2286000"/>
          </a:xfrm>
          <a:prstGeom prst="roundRect">
            <a:avLst>
              <a:gd name="adj" fmla="val 24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0080" y="195681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SCALE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60080" y="221284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0080" y="2560320"/>
            <a:ext cx="31242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lab rig. Quest 3 costs ~€500 and is in millions of homes. If subtraction works here, it works on hardware people already own.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4348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principle, the perfect instrument. In practice, there's a wall →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compositing constraint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Meta Passthrough &amp; PCA documentation; on-device PCA processing throttles within 5–10 min at 720p30 (arXiv 2509.18929) — the thermal ceiling for camera-fed modes.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OS owns the passthrough. An app </a:t>
            </a:r>
            <a:pPr indent="0" marL="0">
              <a:buNone/>
            </a:pPr>
            <a:r>
              <a:rPr lang="en-US" sz="2700" b="1" dirty="0">
                <a:solidFill>
                  <a:srgbClr val="62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cannot touch it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Quest 3, passthrough is composited by the operating system. An app can't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it, can't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it, can't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spatially mask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it.</a:t>
            </a:r>
            <a:endParaRPr lang="en-US" sz="12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 app may do: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on top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(with transparency), or apply a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colour transform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whole feed.</a:t>
            </a:r>
            <a:endParaRPr lang="en-US" sz="12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 Passthrough Camera Access (PCA) API finally grants the raw camera image — but it is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mono camera, 1280×960, ~85–90° field of view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versus the native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~110°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view the user actually sees.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8920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full pixel control exists only where image quality is worst.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0" y="21031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“Dim everything except what matters, without degrading what matters” — and you're not allowed to edit the image.
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100" dirty="0">
                <a:solidFill>
                  <a:srgbClr val="A6B0C0"/>
                </a:solidFill>
              </a:rPr>
              <a:t>The problem, stated as a compositing-rights problem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C1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mapping what CAN be touched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framing.md §3.1; taxonomy validated against Meta SDK capabilities across versions (surface-projected passthrough was deprecated at SDK v83 mid-project — slide 17).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 of access — and what each can diminish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377440"/>
                <a:gridCol w="2331720"/>
                <a:gridCol w="2770632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CAN 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CEILING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 THAT LIVE HERE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D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D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styling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 / contrast / saturation, colour LUTs, edge tint on the whole feed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colour remapping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spatial control at all — but guidance is definitionally spatial. The absence is the finding.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(alone)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D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D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Overlay compositing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transparent geometry over the native feed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Dim, black out, occlude regions; a shaped hole passes native quality through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only darken/cover — can never re-colour what's behind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Dark, Hard Dark, the focus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D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D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 camera re-render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raw camera image, as a texture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Arbitrary per-pixel work: blur, desaturate, re-grade salience, compress glare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 1280×960, ~85–90° FOV, latency, thermal ceiling, binocular-fusion burden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ColorPop (and the camera-fed periphery)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54864" marB="54864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7607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 in this project is a deliberate placement in this table — the design space fell out of the constraint, not the other way around.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first working system (June 2026)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Provenance: FocusVignette.shader + FocusVignetteManager.cs, commits 5ace81b1 → d84db29a (2026-06-13 to 06-15); perceptual mode grounded in Hansen 2009, Krajancich SIGGRAPH 2023. Rewritten to the camera-sphere in commit 3325cd36 (2026-06-15).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1: a filter overlay on </a:t>
            </a:r>
            <a:pPr indent="0" marL="0">
              <a:buNone/>
            </a:pPr>
            <a:r>
              <a:rPr lang="en-US" sz="2700" b="1" dirty="0">
                <a:solidFill>
                  <a:srgbClr val="62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passthrough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and it worked, live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translucent sphere composited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real OS passthrough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Inside the chosen window: alpha = 0 — untouched, full-quality real world. Outside: the filter.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blur filter, the periphery's pixels were synthesized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PCA camera feed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an overlap: native passthrough where you look, filterable camera video where you don't.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modes, walking around a real room: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(gaze-following window, grey-dimmed periphery), Perceptual (eccentricity-adaptive blur + desaturation — two power-law curves, contrast boost at the boundary), and Static (controller-drawn rectangle, hard tunnel).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ideas started here too: light/deep presets, effects easing off while the head scans and returning when it settles.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proved the hybrid was possible on real passthrough — but its camera sampling was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screen-space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its filter vocabulary topped out at dim + blur. Both limits broke next →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223760" y="2011680"/>
            <a:ext cx="4297680" cy="3291840"/>
          </a:xfrm>
          <a:prstGeom prst="roundRect">
            <a:avLst>
              <a:gd name="adj" fmla="val 2222"/>
            </a:avLst>
          </a:prstGeom>
          <a:solidFill>
            <a:srgbClr val="1A2130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2651760"/>
            <a:ext cx="2286000" cy="1554480"/>
          </a:xfrm>
          <a:prstGeom prst="ellipse">
            <a:avLst/>
          </a:prstGeom>
          <a:solidFill>
            <a:srgbClr val="F0F4F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3063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1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PASSTHROUGH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01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(UNTOUCHED)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452360" y="4892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 + SHADER FILTER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bug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one camera, two eyes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CameraSphereVignetteManager.cs (pose + intrinsics feed); CamUV(), InFovWeight() in CameraSphereVignette.shader.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 camera + stereo display = </a:t>
            </a:r>
            <a:pPr indent="0" marL="0">
              <a:buNone/>
            </a:pPr>
            <a:r>
              <a:rPr lang="en-US" sz="2700" b="1" dirty="0">
                <a:solidFill>
                  <a:srgbClr val="62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vision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PCA feed comes from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physical camera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display shows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eyes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 — sample the camera image in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space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gave each eye a 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pixel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same world point: frank double vision, immediately sickening.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fuse by world direction, not screen position: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fragment computes its direction from the head, then projects that direction through the camera's real pose + intrinsics (a pinhole model, evaluated per-pixel in the shader). Both eyes ask “what does the camera see in this world direction” — and get the same answer.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0" y="1920240"/>
            <a:ext cx="4846320" cy="1600200"/>
          </a:xfrm>
          <a:prstGeom prst="roundRect">
            <a:avLst>
              <a:gd name="adj" fmla="val 2857"/>
            </a:avLst>
          </a:prstGeom>
          <a:solidFill>
            <a:srgbClr val="0F131B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2029968"/>
            <a:ext cx="448056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A73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pinhole projection, per fragment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dz  = max(dot(dir, camFwd), 0.001)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ndc = (dot(dir,camRt), dot(dir,camUp)) / dz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2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 = ndc / tanHalfFov * 0.5 + 0.5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75120" y="37033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Intrinsics (focal length, sensor resolution) are read live from the device — with a graceful fade where a direction leaves the camera's frustum, so the narrow feed degrades softly instead of smearing at its edge.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pPr indent="0" marL="0">
              <a:buNone/>
            </a:pPr>
            <a:r>
              <a:rPr lang="en-US" sz="12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stereo display, eye-independence is a correctness criterion, not a nice-to-have.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window is an absence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CameraSphereVignette.shader frag(): the focus rect in az/el radians; smoothstep soft edge per mode (2° for Hard Dark, up to 32° for ColorPop).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render the focus window. </a:t>
            </a:r>
            <a:pPr indent="0" marL="0">
              <a:buNone/>
            </a:pPr>
            <a:r>
              <a:rPr lang="en-US" sz="2700" b="1" dirty="0">
                <a:solidFill>
                  <a:srgbClr val="62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nothing there.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design re-renders the camera feed everywhere and “keeps the window sharp” — but then the window is mono, low-res, narrow, and laggy. The best part of the view would be the worst image.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Inverting it: inside the window the shader outputs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0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Nothing is drawn. The OS passthrough — full stereo, full ~110°, zero added latency — simply shows through the hole.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manipulation lives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the periphery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exactly where the filters need to act.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4343400"/>
            <a:ext cx="6035040" cy="1234440"/>
          </a:xfrm>
          <a:prstGeom prst="roundRect">
            <a:avLst>
              <a:gd name="adj" fmla="val 3704"/>
            </a:avLst>
          </a:prstGeom>
          <a:solidFill>
            <a:srgbClr val="0F131B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453128"/>
            <a:ext cx="56692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D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smoothstep(0, softEdge, max(dAz, dEl))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A73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0 in window → 1 outside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2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 = t × strength × maxAlpha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A73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// window = hole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0" y="210312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degrade what you never drew.
</a:t>
            </a:r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B0C0"/>
                </a:solidFill>
              </a:rPr>
              <a:t>The window is defined in world angles (azimuth/elevation), so it is a stable region of the world — not a spot glued to your face. This is the one idea that survived every rewrite: born in Version 1's overlay, carried through the camera-sphere migration two days later.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novelty claim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two renderings of one reality, fused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prior-art search log (framing.md); the architecture this enables is on the next slide.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hybrid composite — </a:t>
            </a:r>
            <a:pPr indent="0" marL="0">
              <a:buNone/>
            </a:pPr>
            <a:r>
              <a:rPr lang="en-US" sz="2700" b="1" dirty="0">
                <a:solidFill>
                  <a:srgbClr val="62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prior art found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sees </a:t>
            </a:r>
            <a:pPr indent="0" marL="0">
              <a:buNone/>
            </a:pPr>
            <a:r>
              <a:rPr lang="en-US" sz="14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seamless world</a:t>
            </a:r>
            <a:pPr indent="0" marL="0">
              <a:buNone/>
            </a:pPr>
            <a:r>
              <a:rPr lang="en-US" sz="14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assembled from two renderings of the same reality: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4864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(native):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passthrough — untouchable, but perfect — visible through the window.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(ours):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shader re-render of the PCA camera feed — imperfect, but fully controllable — covering the periphery.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seam between them is the smoothstep soft edge; alignment holds because both layers are indexed by the same world directions.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23317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Prior-art search (2026-07-05):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scholarly + 4 code-search queries, 136 public forks of the PCA samples checked, 5 years of venue proceedings.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overlay-only systems exist; camera-re-render demos exist;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fused composite — native quality through a window in a live filtered camera sphere — was not found, for any purpose.</a:t>
            </a:r>
            <a:endParaRPr lang="en-US" sz="12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carefully: “not found” ≠ “provably first”, and the claim is scoped to consumer VST passthrough.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deliberately small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CameraSphereVignette.shader; CameraSphereVignetteManager.cs (passthrough); VideoTestSceneManager.cs (video bench); Meta.XR.EnvironmentRaycastManager for world anchoring.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sphere. One shader. One manager.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53384" cy="2377440"/>
          </a:xfrm>
          <a:prstGeom prst="roundRect">
            <a:avLst>
              <a:gd name="adj" fmla="val 2308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6537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12140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inverted sphere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468880"/>
            <a:ext cx="31242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 m sphere pinned to the head each frame, rendered from the inside. Every fragment converts its world direction to (azimuth, elevation) — the coordinate system for everything: window, filters, probes, detections.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7784" y="1737360"/>
            <a:ext cx="3453384" cy="2377440"/>
          </a:xfrm>
          <a:prstGeom prst="roundRect">
            <a:avLst>
              <a:gd name="adj" fmla="val 2308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2376" y="186537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32376" y="212140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shader, 11 modes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2376" y="2468880"/>
            <a:ext cx="31242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filters are branches of a single fragment shader sharing one mask t. In passthrough it composites as a transparent overlay; on the test bench it shades a 360° video sphere — same code, both worlds.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5488" y="1737360"/>
            <a:ext cx="3453384" cy="2377440"/>
          </a:xfrm>
          <a:prstGeom prst="roundRect">
            <a:avLst>
              <a:gd name="adj" fmla="val 2308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0080" y="186537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60080" y="212140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manager per scene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0080" y="2468880"/>
            <a:ext cx="31242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camera pose, intrinsics and mode uniforms; handles window painting (hold trigger, sweep, release to lock) and world-anchoring. The study harness drives it through one interface.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10908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World-locked by construction: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stays on the desk when you turn your head. For Hard Dark it goes further — the window's corners are raycast against real geometry (environment depth), pinning it to the physical object even as you walk.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shader runs the real-passthrough scene (Block A) and the driving-video scene (Block B) —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manipulation, two test environments.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modes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 designed, 3 evaluated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IEEE 2021 (area darkening guides attention in 360° video; desaturation nearly ineffective — why dark modes are the workhorse); Yantis &amp; Jonides 1984 (onset capture).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ladder of subtraction — from a veil to a blackout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453384" cy="2240280"/>
          </a:xfrm>
          <a:prstGeom prst="roundRect">
            <a:avLst>
              <a:gd name="adj" fmla="val 2449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6537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EVALUATED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12140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Dark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468880"/>
            <a:ext cx="31242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75%-opacity dark veil over the periphery. Events remain visible through it. The minimal, unconfounded manipulation — pure luminance attenuation, no camera needed, so it could run for hours.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7784" y="1737360"/>
            <a:ext cx="3453384" cy="2240280"/>
          </a:xfrm>
          <a:prstGeom prst="roundRect">
            <a:avLst>
              <a:gd name="adj" fmla="val 2449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2376" y="186537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EVALUATED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32376" y="212140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Dark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2376" y="2468880"/>
            <a:ext cx="31242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blackout (alpha 1.0) outside the window, with a near-binary 2° edge. The strongest manipulation — chosen for the confirmatory test (Block A). World-anchored to real geometry.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5488" y="1737360"/>
            <a:ext cx="3453384" cy="2240280"/>
          </a:xfrm>
          <a:prstGeom prst="roundRect">
            <a:avLst>
              <a:gd name="adj" fmla="val 2449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0080" y="186537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EVALUATED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60080" y="212140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ColorPop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0080" y="2468880"/>
            <a:ext cx="31242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darken — re-grades salience. Signal colours (red / orange / green) stay vivid; everything else drops to dim grey outside the window. Used in the driving block (Block B).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206240"/>
            <a:ext cx="109087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further modes were designed and built (Blur, TintedDark, ChromaticCool, SpotLift, ConspicuitySqueeze, GranulatedPeriphery, OutlinedDark) — trimmed to 3 on-device after piloting, so every evaluated mode gets real statistical power. Nothing was deleted: all 11 remain in the shader.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gradually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(~3 s smooth ramp) rather than snapping on — abrupt onsets are exactly what captures attention (Yantis &amp; Jonides 1984), and the system must not become its own distractor.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ColorPop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salience re-grading, not darkness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Sutton et al., UIST 2022 (“Look over there!” — saliency modulation, the sigmoid recipe); Patney 2016 (contrast restoration); Tariq 2022 (perceptual noise).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colours that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something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Mute the rest.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four-level salience hierarchy, applied per pixel: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window + signal colour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(red/orange/green): saturation ×1.7, brightness ×1.15, sigmoid contrast boost — pops.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window, other colours: 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+ signal colour: 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recognisable, but not boosted.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Outside, everything else: 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desaturated toward dim grey (~15% periphery luminance).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contrast boost implements Sutton et al.'s published recipe verbatim (sigmoid, α=10, β=0.5, strength 0.6) — a peer-reviewed knob, not a hand-tuned one.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182880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Detector-free by design.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 + saturation gates decide what's a signal colour — no ML in the loop, so it cannot miss a traffic light the way a detector can, and it costs nothing thermally.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Glare compression: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headlight bloom is compressed toward a knee, with a “blown-core guard” so clipped lamp centres aren't dimmed to grey.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Night-robust: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and contrast restoration are clamped so hard light/dark boundaries don't marble.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carve-outs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subtraction must know what to keep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Waldner 2014 (low-frequency pulsing: attention at low annoyance); Veas 2011 (center-surround salience); McLaughlin 2025 / Murphy 2021 (awareness risk → H2b).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and signals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punch through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filter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objects (traffic lights, stop signs, people)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 their own window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effect: the filter is cleared over the object, a gentle highlight breathes at ~1 Hz, and a soft dark ring around it adds contrast.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lights and signs: always shown.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never filtered away, anywhere in the view.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gated by relevance: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when close (apparent size as a distance proxy) or near the window's edge (“about to enter”). The acceptance cone widens as a person approaches — a constant corridor in metres — so the same pedestrian isn't dropped at their nearest point.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come from a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pre-baked YOLO pass over the study video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(9,170 detections, 97% frame coverage) — an oracle, so the study measures the manipulation, not detector luck.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is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graded, never binary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highlights taper smoothly with distance from the window, so nothing pops in and out at a hard boundary.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DR earns the right to exist: the awareness risk is addressed in the design, then measured in the study (H2b).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engineering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system must not become the distraction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Norouzi 2018 (motion-contingent overlays, inverted); Yantis &amp; Jonides 1984 (onset transients); world-locked “rest frame” reasoning for texture stability.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 that keep the effect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453384" cy="2880360"/>
          </a:xfrm>
          <a:prstGeom prst="roundRect">
            <a:avLst>
              <a:gd name="adj" fmla="val 1905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11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when the head moves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312420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 per-mode head-speed threshold (ColorPop 35°/s · Soft Dark 50°/s · Hard Dark 70°/s) the effect fades out, and fades back once you settle. Norouzi 2018 inverted: the effect gets out of the way on motion. (Disabled during study conditions so the dose stays constant.)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7784" y="1783080"/>
            <a:ext cx="3453384" cy="2880360"/>
          </a:xfrm>
          <a:prstGeom prst="roundRect">
            <a:avLst>
              <a:gd name="adj" fmla="val 1905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2376" y="1911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32376" y="216712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slowly, never snap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2376" y="2514600"/>
            <a:ext cx="312420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ramp in over ~3 s (smoothstep). Onset transients are the strongest attention magnets in the literature — the one thing a focus tool must never emit.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5488" y="1783080"/>
            <a:ext cx="3453384" cy="2880360"/>
          </a:xfrm>
          <a:prstGeom prst="roundRect">
            <a:avLst>
              <a:gd name="adj" fmla="val 1905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0080" y="1911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60080" y="216712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texture to the world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0080" y="2514600"/>
            <a:ext cx="312420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grain and film effects are indexed by world direction, not screen position — the pattern sits still in the room instead of swimming on your eyes when you move.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983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follows the same philosophy: you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window (hold trigger, sweep, release) rather than aiming a cursor, and the window is world-locked — it belongs to the desk, not to your face.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museum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dead ends, kept as findings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commit history; HANDOFF.md incident log (boot incident 2026-07-21, root cause 2026-07-22).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walls we hit — </a:t>
            </a:r>
            <a:pPr indent="0" marL="0">
              <a:buNone/>
            </a:pPr>
            <a:r>
              <a:rPr lang="en-US" sz="2700" b="1" dirty="0">
                <a:solidFill>
                  <a:srgbClr val="62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documented, not hidden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2521458" cy="1828800"/>
          </a:xfrm>
          <a:prstGeom prst="roundRect">
            <a:avLst>
              <a:gd name="adj" fmla="val 30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6537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121408"/>
            <a:ext cx="219227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Screen-space sampling → frank double vision. Fix: world-direction fusion (slide 9).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435858" y="1737360"/>
            <a:ext cx="2521458" cy="1828800"/>
          </a:xfrm>
          <a:prstGeom prst="roundRect">
            <a:avLst>
              <a:gd name="adj" fmla="val 30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0450" y="186537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00450" y="2121408"/>
            <a:ext cx="219227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Surface-projected passthrough deprecated at SDK v83 — mid-project. Fix: window-as-absence on stable primitives.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231636" y="1737360"/>
            <a:ext cx="2521458" cy="1828800"/>
          </a:xfrm>
          <a:prstGeom prst="roundRect">
            <a:avLst>
              <a:gd name="adj" fmla="val 30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6228" y="186537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396228" y="2121408"/>
            <a:ext cx="219227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Shader.Find() returns null on device (Android strips unreferenced shaders). Fix: serialized material reference.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027414" y="1737360"/>
            <a:ext cx="2521458" cy="1828800"/>
          </a:xfrm>
          <a:prstGeom prst="roundRect">
            <a:avLst>
              <a:gd name="adj" fmla="val 30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2006" y="186537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92006" y="2121408"/>
            <a:ext cx="219227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640×360 bake silently missed small traffic lights. Fix: full-res tiled baking → 97% coverage.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2521458" cy="1828800"/>
          </a:xfrm>
          <a:prstGeom prst="roundRect">
            <a:avLst>
              <a:gd name="adj" fmla="val 30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83133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4672" y="4087368"/>
            <a:ext cx="219227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into a OneDrive folder — sync locks corrupted Android builds. Fix: non-synced build dir.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435858" y="3703320"/>
            <a:ext cx="2521458" cy="1828800"/>
          </a:xfrm>
          <a:prstGeom prst="roundRect">
            <a:avLst>
              <a:gd name="adj" fmla="val 30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0450" y="383133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00450" y="4087368"/>
            <a:ext cx="219227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Camera-service screenshots return black frames. Fix: framebuffer capture / scrcpy.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231636" y="3703320"/>
            <a:ext cx="2521458" cy="1828800"/>
          </a:xfrm>
          <a:prstGeom prst="roundRect">
            <a:avLst>
              <a:gd name="adj" fmla="val 30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6228" y="383133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96228" y="4087368"/>
            <a:ext cx="219227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asleep at boot — indistinguishable from a broken build. Fix: boot into the experiment scene + liveness checklist.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027414" y="3703320"/>
            <a:ext cx="2521458" cy="1828800"/>
          </a:xfrm>
          <a:prstGeom prst="roundRect">
            <a:avLst>
              <a:gd name="adj" fmla="val 30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92006" y="383133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4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192006" y="4087368"/>
            <a:ext cx="219227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adb-pushed ledger became read-only to the app → boot crash mid-pilot. Rule: never push files the app must write.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640080" y="57150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has a log, commit, or date behind it. On this platform, the walls are part of the map — and per the supervisor's guidance, known-but-unfixed issues are discussed, not hidden.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from demo to evidence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testing-strategy-v2.md §2, §8.3; Lakens 2017 (TOST); SESOI rationale: “a vignette that removes less than half the distraction cost doesn't justify wearing a headset.”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committed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the data — each one refutable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5577840"/>
                <a:gridCol w="4187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(PLAIN WORDS)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WOULD REFUTE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the blackout on, peripheral distractors hurt the focal task less — the vignette recovers at least half of the distraction cost.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interaction is absent/reversed, or its 90% CI excludes that minimum effect.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ColorPop on, you react faster to events in the focus region, with no drop in hit rate there.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reaction time isn't reduced (95% CI includes zero or favours Off).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69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469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Peripheral event detection is equivalent to no-filter, within 10 percentage points (TOST equivalence test).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Equivalence fails AND the drop exceeds 10 pp → the mode harms situational awareness. Conclusive either way.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Perceived workload (NASA-TLX) is lower with the vignette on, under distraction.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TLX difference, or higher with the vignette.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2B6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2B6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Manipulation check: with everything off, distractors do raise errors (replicating the N=66 effect). If not, the setup failed — no H1 claim is made.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6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45720" marB="45720" anchor="t">
                    <a:lnL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B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82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is the single primary endpoint; H2a/H2b/H3 are Holm-corrected as a family. A pre-committed decision table covers every outcome — </a:t>
            </a:r>
            <a:pPr indent="0" marL="0">
              <a:buNone/>
            </a:pPr>
            <a:r>
              <a:rPr lang="en-US" sz="11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configuration of results yields “inconclusive.”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why a driving simulation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Cheng et al. CHI 2022 (simulation-based DR evaluation); ISO 17488 / Jahn et al. 2005 (PDT band 11–23°); framing.md §2 (claim-scoping rules).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Driving footage is the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stimulus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not the claim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simulated driving for Block 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density a real street never provides: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clip carries 9,170 baked detections — lights, signs, pedestrians — arriving on a schedule that is identical for every participant.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&amp; repeatable: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events, same timing, same lighting for all 20 participants — the Cheng (CHI 2022) simulation tradition.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eccentricities: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sit exactly where the driving literature says awareness is safety-critical (peripheral detection band 11–23°, inside the ~30° useful field of view that shrinks under load).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honest boundary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214884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claim-scoping: the write-up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claims “driving performance” or “road safety.”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Driving footage is a rich, motivating stimulus context — nothing more.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 runs on real passthrough; Block B in simulation.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bracket the feasibility spectrum: if they agree in direction, the simulation methodology gains credibility; if they diverge, the divergence is itself a finding.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one session, three blocks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testing-strategy-v2.md §3; Caine 2016 (CHI sample norms); Cheng 2022, McLaughlin 2025 (within-subjects precedent). Instruments: VRSQ pre+post, NASA-TLX ×6, SUS, ESQ.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Within-subjects, N = 20, every comparison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2521458" cy="2148840"/>
          </a:xfrm>
          <a:prstGeom prst="roundRect">
            <a:avLst>
              <a:gd name="adj" fmla="val 2553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1965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075688"/>
            <a:ext cx="21922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 analysed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423160"/>
            <a:ext cx="219227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recruited (4 spares). Every participant sees every condition — each person is their own control. Modal CHI sample is 12 (Caine 2016).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435858" y="1691640"/>
            <a:ext cx="2521458" cy="2148840"/>
          </a:xfrm>
          <a:prstGeom prst="roundRect">
            <a:avLst>
              <a:gd name="adj" fmla="val 2553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0450" y="181965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00450" y="2075688"/>
            <a:ext cx="21922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for dz ≈ 0.65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0450" y="2423160"/>
            <a:ext cx="219227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primary paired difference-of-differences. The source distractor effect is large (&gt;2× at N=66), so this is realistic.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231636" y="1691640"/>
            <a:ext cx="2521458" cy="2148840"/>
          </a:xfrm>
          <a:prstGeom prst="roundRect">
            <a:avLst>
              <a:gd name="adj" fmla="val 2553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6228" y="181965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96228" y="2075688"/>
            <a:ext cx="21922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~53 minutes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6228" y="2423160"/>
            <a:ext cx="219227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block order A → B → C. A must be freshest (primary); C absorbs fatigue — an acknowledged limitation, not an accident.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9027414" y="1691640"/>
            <a:ext cx="2521458" cy="2148840"/>
          </a:xfrm>
          <a:prstGeom prst="roundRect">
            <a:avLst>
              <a:gd name="adj" fmla="val 2553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92006" y="181965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92006" y="2075688"/>
            <a:ext cx="21922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squares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92006" y="2423160"/>
            <a:ext cx="219227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A: 4×4 Williams square. Block B: parity alternation. Block C: 3×3 square. All derived from the participant ID.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197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 · PRIMARY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04672" y="445312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 focus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4800600"/>
            <a:ext cx="3124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passthrough + Hard Dark. Does blacking out the periphery reduce the cost of real distractors? → H1, H3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67784" y="40690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2376" y="4197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 · SECONDARY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32376" y="445312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probes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32376" y="4800600"/>
            <a:ext cx="3124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sphere + ColorPop. Faster central detection without losing the periphery? → H2a, H2b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5488" y="40690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60080" y="4197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 · EXPLORATORY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60080" y="445312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sampler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60080" y="4800600"/>
            <a:ext cx="3124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modes, 75 s each, free viewing + ratings. Soft Dark's only data. Skippable by pre-registered rule.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primary test, on real passthrough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Frontiers 2025 (peripheral distractor paradigm, errors as the sensitive DV); Hart 2006 (raw TLX); supervisor feedback 2026-07-17 Points 4, 5, 6.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focal task, two fake phones, and a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blackout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surface directly ahead; two tablets at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±35° azimuth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near-periphery zone of maximal involuntary capture — playing clickbait-style distractor reels with scheduled salient bursts.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within: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{vignette Off / Hard Dark On} × {distractors absent / present}, ~3.5 min each, Latin-square ordered.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window locked by the experimenter — window size is a controlled dose, not a participant choice.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task: forced-choice 1-back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498848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shape at a time; every trial answer YES/NO: “same as the previous shape?” 105 trials at 2.0 s pace (3:30).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a simple Go/No-go: the 1-back adds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 + goal maintenance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thing distraction actually disrupts.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measured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2121408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pPr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condition; RT; timeouts.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cost</a:t>
            </a:r>
            <a:pPr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errors(distractors) − errors(quiet), computed with vignette Off and On.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statistic</a:t>
            </a:r>
            <a:pPr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cost(Off) − cost(On). Positive = the vignette buys back errors.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turns toward the tablets</a:t>
            </a:r>
            <a:pPr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(&gt;30° yaw): count + dwell, logged at 60 Hz — an independent behavioural measure of looking away.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NASA-TLX</a:t>
            </a:r>
            <a:pPr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each condition (→ H3), plus a “did you notice the reels?” open check.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driving block, in simulation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ISO 17488:2016; Jahn et al. 2005; van Winsum 2018 (probe conspicuity); Higgins 2022 / Sitzmann 2018 (head pose ≈ gaze); Lakens 2017 (TOST margin).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gain the centre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losing the edges?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footage on the 360° sphere; focus window pre-set to the windscreen region — identical for everyone.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conditions: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video vs ColorPop on. Order alternated by participant parity (10/10).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 task follows the standardised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Response Task lineage (ISO 17488)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brief peripheral stimuli, press the trigger when you see one, hit window 100–2500 ms.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453128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per condition: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central (&lt;10°, inside the window), 12 peripheral (25–40°, outside), ~300 ms onsets, 6–12 s apart.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on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objects from the baked detection track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a probe rides a real pedestrian or light, moving with it.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measured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2121408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Central: </a:t>
            </a:r>
            <a:pPr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RT + hit rate → H2a (should improve).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Peripheral: </a:t>
            </a:r>
            <a:pPr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→ H2b (must stay within 10 pp — “losing more than one peripheral event in ten to the overlay is an unacceptable awareness cost”).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alarms; head yaw/pitch at 60 Hz (head pose as validated gaze proxy — Quest 3 has no eye tracker).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banded by eccentricity (0–10°, 10–20°, 20–30°, …) — a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dose-response curve</a:t>
            </a:r>
            <a:pPr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one number.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design problem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what should a probe look like?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by: Bailey et al. 2009 (subtle gaze direction); Wallis, Dorr &amp; Bex 2015 (local contrast limits detection); Franconeri &amp; Simons 2003 (gradual onsets don't capture); probe-target-design.md.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fair probe must be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filtered like the world it sits in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trap: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opaque marker “pops out” through four separate pre-attentive cues (hard silhouette, flat fill, abrupt onset, background-independent contrast). It would be visible through any filter — measuring nothing.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that matters: 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 is composited inside the shader, after the filter — so a probe in a blacked-out periphery is blacked out too, exactly like a real object there (supervisor Point 3, delivered by construction).</a:t>
            </a:r>
            <a:endParaRPr lang="en-US" sz="110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is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</a:t>
            </a:r>
            <a:pPr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size ~1.6°, contrast calibrated for an informative 60–85% no-filter hit rate — hard enough to miss, easy enough to measure.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like an experiment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2240" y="2121408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billboard: 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a tint, not a modulation; fought the dark modes.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Refractive “bubble”: 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borrows scene contrast; Monte-Carlo showed variance could flip the measured sign.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black ring: 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on paper (black survives dimming unchanged) — failed in pilot: camouflaged by clutter, and disqualifyingly more visible with the filter ON.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black/white “rope” ring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achromatic, contains both contrast polarities, the fiducial-marker principle. Near-opaque (alpha 0.88).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· Day 1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2026-07-22, five naive participants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analysis-2026-07-22.md; session CSVs (P1–P4, P33); supervisor directive 2026-07-23: responses from different test versions are not aggregated.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harness survived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with reality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453384" cy="2514600"/>
          </a:xfrm>
          <a:prstGeom prst="roundRect">
            <a:avLst>
              <a:gd name="adj" fmla="val 2182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11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3C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participants, one evening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31242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sessions end-to-end: window setup, Block A 1-back in the browser tool, Block B target passes on-device, ESQ after. Zero data loss; every trial logged to CSV with a shared participant ID across systems.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7784" y="1783080"/>
            <a:ext cx="3453384" cy="2514600"/>
          </a:xfrm>
          <a:prstGeom prst="roundRect">
            <a:avLst>
              <a:gd name="adj" fmla="val 2182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2376" y="1911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3C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WORK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32376" y="216712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rules fired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32376" y="2514600"/>
            <a:ext cx="31242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was excluded by the pre-registered &gt;30% false-alarm rule — traced to an instruction failure, since fixed. The rules protect the data, and they were allowed to.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5488" y="1783080"/>
            <a:ext cx="3453384" cy="2514600"/>
          </a:xfrm>
          <a:prstGeom prst="roundRect">
            <a:avLst>
              <a:gd name="adj" fmla="val 2182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0080" y="1911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3C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PILOT'S JOB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60080" y="2167128"/>
            <a:ext cx="3124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found the flaws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0080" y="2514600"/>
            <a:ext cx="312420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ceiling, a probe-visibility artifact, and a set-difficulty confound — found now, at pilot scale, instead of at N=20. That is exactly what pilots are for.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next two slides is </a:t>
            </a:r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signal</a:t>
            </a:r>
            <a:pPr indent="0" marL="0">
              <a:buNone/>
            </a:pPr>
            <a:r>
              <a:rPr lang="en-US" sz="13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small N, iterating builds — shown for direction, not for inference. Pilot versions are never aggregated with the main study.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· Day 1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early signal, honestly labelled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analysis-2026-07-22.md §3–6 (set confound §3; duration §4; decoys §5b; v2 ceiling-break §6c). All numbers are pilot-only.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direction is right — and the flaws were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fixable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 (focus task)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075688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version was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ceiling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(92–100% accuracy) — the predicted failure mode, observed. Direction still favoured the filter: filter rounds made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commission errors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v2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(105 trials, 2.0 s): ceiling broken (84.6–92.3%). First participant: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+7.7 pp accuracy, +16 pp go-accuracy, −133 ms median RT, timeouts halved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the filter — with order working against it. (n = 1 — a direction, not a result.)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 (driving probes)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407408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Clearest gains exactly where the mechanism predicts — the near periphery: </a:t>
            </a:r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10–20°: 44% → 60%; 20–30°: 33% → 67%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hit rate. Other bands within ~10 pp; RT equal or faster under the filter.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honest part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92240" y="2075688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confound was caught: </a:t>
            </a:r>
            <a:pPr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clean group, every filter run used target set A and every baseline set B — so mid-band “gains” partly reflect set difficulty. Fix: fill the missing cells + model at target level.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dominates: </a:t>
            </a:r>
            <a:pPr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visible ≤1.5 s were hit 18% of the time regardless of condition. Pool re-screened at ≥2 s.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probe artifact found: </a:t>
            </a:r>
            <a:pPr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yellow ring lost contrast on ColorPop's warm boost — a visibility issue, not attention. Fixed by the rope probe.</a:t>
            </a:r>
            <a:endParaRPr lang="en-US" sz="10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De-facto decoys: </a:t>
            </a:r>
            <a:pPr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system does nothing for were hit at the same rate on and off (50% vs 48%) — no differential suppression of the irrelevant.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· Day 1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what participants said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esq-day1-analysis.md (P2, P3, P33, P4; sections A–C, binary agree/disagree). H2b is the behavioural version of this question.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 helped me focus” —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of 20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agreements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453384" cy="3017520"/>
          </a:xfrm>
          <a:prstGeom prst="roundRect">
            <a:avLst>
              <a:gd name="adj" fmla="val 1818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11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3C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BENEFIT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148840"/>
            <a:ext cx="312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19/20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04672" y="2880360"/>
            <a:ext cx="3124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Near-unanimous perceived focus benefit. The one dissent came from the strongest performer (“no real difference”) — who still endorsed the other items.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7784" y="1783080"/>
            <a:ext cx="3453384" cy="3017520"/>
          </a:xfrm>
          <a:prstGeom prst="roundRect">
            <a:avLst>
              <a:gd name="adj" fmla="val 1818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2376" y="1911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3C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32376" y="2148840"/>
            <a:ext cx="312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14/16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32376" y="2880360"/>
            <a:ext cx="3124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not distracting, no eye strain, effect faded from awareness. The comfort engineering (slide 16) appears to be doing its job.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5488" y="1783080"/>
            <a:ext cx="3453384" cy="3017520"/>
          </a:xfrm>
          <a:prstGeom prst="roundRect">
            <a:avLst>
              <a:gd name="adj" fmla="val 1818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0080" y="1911096"/>
            <a:ext cx="312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60080" y="2148840"/>
            <a:ext cx="312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9/20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260080" y="2880360"/>
            <a:ext cx="3124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said they “noticed side events later.” Two readings: a cost — or the intended mechanism (peripheral onsets no longer capture attention immediately; deferred, not denied).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51206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perceived cost exceeds the measured cost.</a:t>
            </a:r>
            <a:pPr indent="0" marL="0">
              <a:buNone/>
            </a:pPr>
            <a:r>
              <a:rPr lang="en-US" sz="13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People feel they lose more periphery than they measurably do — trust in the periphery becomes a design target, not just a statistic.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commit, freeze, run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supervisor feedback 2026-07-23 (commit-or-iterate; “even a ‘bad’ result with decent analysis depth is a valuable outcome”); testing-strategy-v2.md §8.3 decision table.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iteration. Then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freeze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run N = 20, and report — good or bad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freeze plan (agreed with supervisor)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final iteration bundle: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 probe, pool re-screened at ≥2 s, hardened Block A task, protocol fixes. Window and dose frozen: 6°×4° + 24° soft edge, periphery ~15% luminance.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build is tagged and frozen.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formal participant runs one configuration — versions are never aggregated.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depth is committed: mixed models at target level, TOST for equivalence, distributions and CIs, paired per-participant plots.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outcome is publishable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holds + H2b holds → the system works as claimed.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holds, H2b fails → it works, at a 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</a:t>
            </a: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awareness cost.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refuted → a conclusive, bounded negative (“recovers at most X% of the cost”).</a:t>
            </a:r>
            <a:endParaRPr lang="en-US" sz="1150" dirty="0"/>
          </a:p>
          <a:p>
            <a:pPr marL="152400" indent="-152400">
              <a:lnSpc>
                <a:spcPct val="112000"/>
              </a:lnSpc>
              <a:buSzPct val="100000"/>
              <a:buChar char="•"/>
            </a:pPr>
            <a:pPr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check fails → a finding about the paradigm itself.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92240" y="5212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table was written before the data. </a:t>
            </a:r>
            <a:pPr indent="0" marL="0">
              <a:buNone/>
            </a:pPr>
            <a:r>
              <a:rPr lang="en-US" sz="12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row says “inconclusive.”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pPr indent="0" marL="0">
              <a:buNone/>
            </a:pPr>
            <a:r>
              <a:rPr lang="en-US" sz="1050" spc="200" kern="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what this work contributes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40080" y="6419088"/>
            <a:ext cx="10908792" cy="0"/>
          </a:xfrm>
          <a:prstGeom prst="line">
            <a:avLst/>
          </a:prstGeom>
          <a:noFill/>
          <a:ln w="9525">
            <a:solidFill>
              <a:srgbClr val="23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55664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Shreyansh Soni · MSc Dissertation · Trinity College Dublin · Supervisor: Dr. John Dingliana · August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91672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A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62179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Software-defined </a:t>
            </a:r>
            <a:pPr indent="0" marL="0">
              <a:buNone/>
            </a:pPr>
            <a:r>
              <a:rPr lang="en-US" sz="27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noise cancellation</a:t>
            </a:r>
            <a:pPr indent="0" marL="0">
              <a:buNone/>
            </a:pPr>
            <a:r>
              <a:rPr lang="en-US" sz="2700" b="1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on hardware anyone can buy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521458" cy="2286000"/>
          </a:xfrm>
          <a:prstGeom prst="roundRect">
            <a:avLst>
              <a:gd name="adj" fmla="val 24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91109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21922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514600"/>
            <a:ext cx="219227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of passthrough access, mapped to what each can diminish — a design space for anyone building DR on consumer VST.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35858" y="1783080"/>
            <a:ext cx="2521458" cy="2286000"/>
          </a:xfrm>
          <a:prstGeom prst="roundRect">
            <a:avLst>
              <a:gd name="adj" fmla="val 24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0450" y="191109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00450" y="2167128"/>
            <a:ext cx="21922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technique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0450" y="2514600"/>
            <a:ext cx="219227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composite: native passthrough revealed through a window in a live filtered camera sphere. No prior art found.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1636" y="1783080"/>
            <a:ext cx="2521458" cy="2286000"/>
          </a:xfrm>
          <a:prstGeom prst="roundRect">
            <a:avLst>
              <a:gd name="adj" fmla="val 24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6228" y="191109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2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396228" y="2167128"/>
            <a:ext cx="21922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6228" y="2514600"/>
            <a:ext cx="219227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multi-mode DR family (blackout → veil → salience re-grading) with safety carve-outs and comfort rules, on-device.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27414" y="1783080"/>
            <a:ext cx="2521458" cy="2286000"/>
          </a:xfrm>
          <a:prstGeom prst="roundRect">
            <a:avLst>
              <a:gd name="adj" fmla="val 2400"/>
            </a:avLst>
          </a:prstGeom>
          <a:solidFill>
            <a:srgbClr val="131822"/>
          </a:solidFill>
          <a:ln w="9525">
            <a:solidFill>
              <a:srgbClr val="232B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92006" y="1911096"/>
            <a:ext cx="2192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92006" y="2167128"/>
            <a:ext cx="21922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92006" y="2514600"/>
            <a:ext cx="219227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6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pre-registered, falsifiable, within-subjects study — piloted, hardened by real participants, and designed so no outcome is inconclusive.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44805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D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do you see?”  —  “Only the eye.”
</a:t>
            </a:r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6B0C0"/>
                </a:solidFill>
              </a:rPr>
              <a:t>Where the field adds arrows, this work quiets everything else — so what matters is simply what remains.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2026-07-23T15:52:04Z</dcterms:created>
  <dcterms:modified xsi:type="dcterms:W3CDTF">2026-07-23T15:52:04Z</dcterms:modified>
</cp:coreProperties>
</file>